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Abrimos con la frase de una línea: SignalRoom es tu analista de mercados con IA. No es un chatbot más: vigila tus activos, investiga solo y explica cada movimiento con pruebas. Destacar que el producto ya funciona (12 agentes) y que levantamos €750K pre-seed.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co-fundadores técnicos del MIAX. Iván (CEO) ya ha construido sistemas multi-agente en producción en un banco regulado (Renta 4). Joseph (CTO) aporta ingeniería de software y rendimiento (Accenture, NTT DATA). Gonzalo (CMO) gestión de proyectos (INECO) y formación en emprendimiento. La ronda cubre lo que nos falta: partnerships con brokers y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la falta de información, es que está dispersa y sin pruebas. Los chatbots esperan a que preguntes, los finfluencers no se pueden verificar (la CNMV ha encontrado incumplimientos) y el research profesional cuesta miles de euros. El enemigo es la opinión sin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solución es un ciclo: vigilar, investigar, explicar y aprender. La IA hace el trabajo pesado (12 agentes en paralelo) pero las cifras se calculan en código y cada afirmación lleva su fuente. Mencionar ejemplos del usuario: cripto (ETH, SOL), petróleo, S&amp;P 500.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 es el producto real, no un diseño. Cada investigación muestra el porqué con pesos y fuentes, el grafo de evidencias, el mercado y los riesgos. El usuario lo recibe como briefing diario en texto, audio o email. Precio: gratis y Pro desde 9,99 €/mes, frente a decenas de miles de un terminal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el alcance: funciona en local, la nube está escrita pero no desplegada y no hay usuarios ni alertas automáticas. No tenemos clientes de pago todavía, así que enseñamos lo que sí es verificable: producto completo, probado y con costes medidos en ejecuciones reales. El dato clave es el coste: céntimos por investigación, lo que hace viable un modelo freemium y el B2B2C. Cerramos con el plan de 90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visión de startup: el analista evoluciona hacia un piloto automático, pero siempre con el usuario al mando y con la licencia en el partner. Hoy estamos en la fase 1: prototipo construido, sin desplegar. Los raíles técnicos ya existen (Robinhood, Scalable, eToro). Respuesta anticipada a «¿esto es asesoramiento?»: no, nosotros somos el cerebro y el partner pone la licencia.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motores de ingresos. B2C freemium para construir marca y captar usuarios, con márgenes altos porque la IA cuesta céntimos. B2B2C: licenciamos el analista en marca blanca a brokers por usuario activo; el partner distribuye (CAC casi cero) y pone la licencia. Los costes de IA son medidos; precios y CAC son supuestos.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Bottom-up: cuentas de inversión autogestionadas por un ARPU Pro de 105 €/año. Empezamos en España (~3 M de inversores digitales, estimación) y escalamos a Europa (39 M de cuentas) vía brokers. El top-down de IA en wealth management (14.000 M$ en 2030) y el mercado global de inversión autogestionada (109.000 M$) dan el techo.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alternativa obliga a renunciar a algo. Los asistentes de los brokers son reactivos y están atados a su app; ChatGPT y Perplexity no vigilan; los terminales son caros; los finfluencers no tienen pruebas. Nuestra apuesta: ser el motor que los brokers licencian, no competir con su app. Lo defendible: el archivo de causas, la confianza verificable, los contratos con brokers y el contexto del usuario; los modelos no son foso.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entra la idea del «influencer»: el briefing diario que genera el producto se publica como vídeo y audio corto. Es un finfluencer con pruebas, con coste marginal casi cero. En paralelo, comunidad (MIAX, BME, foros) y pilotos B2B2C con brokers españoles. El embudo es el plan del año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único plan en todas las slides. El año 1 sale de 2.500 suscriptores Pro y un broker piloto con 15.000 usuarios activos. A partir del año 3 el B2B2C pesa más que el B2C. El break-even llega en el mes 30. Todo salvo el año 1 son proyecciones.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Pedimos €750K pre-seed para 18 meses. Referencia de valoración: €5M pre-money, por debajo de la mediana europea pre-seed/seed (€6M en el T1 2026). Uso de fondos: 45 % producto, 30 % crecimiento y partnerships, 25 % cumplimiento, datos y runway. Hitos para la seed: 2.500 Pro, primer broker y €0,4M de 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repetir la frase de una línea y la ronda. Ofrecer la demo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Anexo: respuestas preparadas a las objeciones más habituales, sobre todo la regulatoria.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74519"/>
            <a:ext cx="960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1664208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0" b="1">
                <a:solidFill>
                  <a:srgbClr val="F5F5F7"/>
                </a:solidFill>
                <a:latin typeface="Space Grotesk"/>
              </a:rPr>
              <a:t>Signal</a:t>
            </a:r>
            <a:r>
              <a:rPr sz="7200" b="0">
                <a:solidFill>
                  <a:srgbClr val="A1A1AA"/>
                </a:solidFill>
                <a:latin typeface="Inter SemiBold"/>
              </a:rPr>
              <a:t>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F5F5F7"/>
                </a:solidFill>
                <a:latin typeface="Space Grotesk"/>
              </a:rPr>
              <a:t>Tu analista de mercados con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1A1AA"/>
                </a:solidFill>
                <a:latin typeface="Inter"/>
              </a:rPr>
              <a:t>Vigila tus activos 24/7, te explica cada movimiento con pruebas y, mañana, actúa por ti dentro de los límites que tú marques.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7589520" cy="420624"/>
          </a:xfrm>
          <a:prstGeom prst="roundRect">
            <a:avLst>
              <a:gd name="adj" fmla="val 24478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 SemiBold"/>
              </a:rPr>
              <a:t>Producto funcionando · 12 agentes de IA · 0,003–0,03 $ por investigación   ·   </a:t>
            </a:r>
            <a:r>
              <a:rPr sz="1100" b="0">
                <a:solidFill>
                  <a:srgbClr val="EC4899"/>
                </a:solidFill>
                <a:latin typeface="Inter SemiBold"/>
              </a:rPr>
              <a:t>Levantando €750K pre-seed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Proyecto MIAX · Instituto BME  ·  Madrid,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02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Tres ingenieros del Máster en IA aplicada a Mercados Financieros (MIAX, Instituto BME). Full-time desde el cierre de la ronda.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743200" cy="4160520"/>
          </a:xfrm>
          <a:prstGeom prst="roundRect">
            <a:avLst>
              <a:gd name="adj" fmla="val 28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v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801368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Iván Nevado Martín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0954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Co-fundador y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38728"/>
            <a:ext cx="2377440" cy="2148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F5F5F7"/>
                </a:solidFill>
                <a:latin typeface="Inter SemiBold"/>
              </a:rPr>
              <a:t>AI Engineer &amp; GenAI Solutions Architect, Renta 4 Banco.</a:t>
            </a:r>
            <a:r>
              <a:rPr sz="950" b="0">
                <a:solidFill>
                  <a:srgbClr val="A1A1AA"/>
                </a:solidFill>
                <a:latin typeface="Inter"/>
              </a:rPr>
              <a:t> 2 sistemas multi-agente en producción en un banco regulado: ~3.000 consultas/semana y −30–50 % de tiempo de resolución.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F5F5F7"/>
                </a:solidFill>
                <a:latin typeface="Inter SemiBold"/>
              </a:rPr>
              <a:t>Liderazgo técnico de IA en banca:</a:t>
            </a:r>
            <a:r>
              <a:rPr sz="950" b="0">
                <a:solidFill>
                  <a:srgbClr val="A1A1AA"/>
                </a:solidFill>
                <a:latin typeface="Inter"/>
              </a:rPr>
              <a:t> arquitectura de soluciones GenAI en un entorno regulado, de la idea a producción.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MIAX (BME) · Ingeniería de Software (UPM), TFG 10/10 con MH · ex-profesor ayudante de 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743200" cy="4160520"/>
          </a:xfrm>
          <a:prstGeom prst="roundRect">
            <a:avLst>
              <a:gd name="adj" fmla="val 28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jose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801368"/>
            <a:ext cx="100584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Joseph Egusquiza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0954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Co-fundador y 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38728"/>
            <a:ext cx="2377440" cy="2148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F5F5F7"/>
                </a:solidFill>
                <a:latin typeface="Inter SemiBold"/>
              </a:rPr>
              <a:t>Analista en Accenture:</a:t>
            </a:r>
            <a:r>
              <a:rPr sz="950" b="0">
                <a:solidFill>
                  <a:srgbClr val="A1A1AA"/>
                </a:solidFill>
                <a:latin typeface="Inter"/>
              </a:rPr>
              <a:t> ingeniería de rendimiento y pruebas de carga (NeoLoad) de sistemas críticos.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F5F5F7"/>
                </a:solidFill>
                <a:latin typeface="Inter SemiBold"/>
              </a:rPr>
              <a:t>Ingeniero de software en NTT DATA:</a:t>
            </a:r>
            <a:r>
              <a:rPr sz="950" b="0">
                <a:solidFill>
                  <a:srgbClr val="A1A1AA"/>
                </a:solidFill>
                <a:latin typeface="Inter"/>
              </a:rPr>
              <a:t> APIs REST, SQL y desarrollo backend.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MIAX (BME) · Ingeniería de Software (UPM) · certificaciones ServiceNow en testing automatizado.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600200"/>
            <a:ext cx="2743200" cy="4160520"/>
          </a:xfrm>
          <a:prstGeom prst="roundRect">
            <a:avLst>
              <a:gd name="adj" fmla="val 28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gonza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1801368"/>
            <a:ext cx="1005840" cy="1005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65392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Gonzalo De Ramón Murillo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20954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Co-fundador y CMO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538728"/>
            <a:ext cx="2377440" cy="2148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F5F5F7"/>
                </a:solidFill>
                <a:latin typeface="Inter SemiBold"/>
              </a:rPr>
              <a:t>Gestión de proyectos en INECO</a:t>
            </a:r>
            <a:r>
              <a:rPr sz="950" b="0">
                <a:solidFill>
                  <a:srgbClr val="A1A1AA"/>
                </a:solidFill>
                <a:latin typeface="Inter"/>
              </a:rPr>
              <a:t> (negocio ferroviario): planificación y coordinación de proyectos.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F5F5F7"/>
                </a:solidFill>
                <a:latin typeface="Inter SemiBold"/>
              </a:rPr>
              <a:t>Emprendimiento:</a:t>
            </a:r>
            <a:r>
              <a:rPr sz="950" b="0">
                <a:solidFill>
                  <a:srgbClr val="A1A1AA"/>
                </a:solidFill>
                <a:latin typeface="Inter"/>
              </a:rPr>
              <a:t> certificado EELISA – Xiji Incubator.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MIAX (BME) · Ingeniería Industrial (UPM) · Beca de Excelencia Académica de la Comunidad de Madrid.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1600200"/>
            <a:ext cx="2325319" cy="4160520"/>
          </a:xfrm>
          <a:prstGeom prst="roundRect">
            <a:avLst>
              <a:gd name="adj" fmla="val 3123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18904" y="1783080"/>
            <a:ext cx="195955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CON ESTA RONDA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2328" y="2103120"/>
            <a:ext cx="1996135" cy="841248"/>
          </a:xfrm>
          <a:prstGeom prst="roundRect">
            <a:avLst>
              <a:gd name="adj" fmla="val 6869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10344" y="2194560"/>
            <a:ext cx="17766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spc="120">
                <a:solidFill>
                  <a:srgbClr val="71717A"/>
                </a:solidFill>
                <a:latin typeface="Inter SemiBold"/>
              </a:rPr>
              <a:t>CONTRATANDO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2395727"/>
            <a:ext cx="17766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Head of 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2633472"/>
            <a:ext cx="17766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"/>
              </a:rPr>
              <a:t>Perfil ex-broker o banca → primeros acuerdos B2B2C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2328" y="3063239"/>
            <a:ext cx="1996135" cy="841248"/>
          </a:xfrm>
          <a:prstGeom prst="roundRect">
            <a:avLst>
              <a:gd name="adj" fmla="val 6869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10344" y="3154679"/>
            <a:ext cx="17766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spc="120">
                <a:solidFill>
                  <a:srgbClr val="71717A"/>
                </a:solidFill>
                <a:latin typeface="Inter SemiBold"/>
              </a:rPr>
              <a:t>CONTRATANDO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4" y="3355847"/>
            <a:ext cx="17766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Compliance y Riesgos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3593591"/>
            <a:ext cx="17766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"/>
              </a:rPr>
              <a:t>MiFID II, AI Act y CNMV desde el día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82328" y="4023360"/>
            <a:ext cx="1996135" cy="841248"/>
          </a:xfrm>
          <a:prstGeom prst="roundRect">
            <a:avLst>
              <a:gd name="adj" fmla="val 6869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10344" y="4114800"/>
            <a:ext cx="17766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spc="120">
                <a:solidFill>
                  <a:srgbClr val="71717A"/>
                </a:solidFill>
                <a:latin typeface="Inter SemiBold"/>
              </a:rPr>
              <a:t>CONTRATANDO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0344" y="4315968"/>
            <a:ext cx="177667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2× AI / Data Engineers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0344" y="4553712"/>
            <a:ext cx="177667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"/>
              </a:rPr>
              <a:t>Datos licenciados, app móvil e integraciones con brokers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8904" y="5193792"/>
            <a:ext cx="195955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Objetivo: </a:t>
            </a:r>
            <a:r>
              <a:rPr sz="950" b="0">
                <a:solidFill>
                  <a:srgbClr val="EC4899"/>
                </a:solidFill>
                <a:latin typeface="Inter SemiBold"/>
              </a:rPr>
              <a:t>primer broker en producción con un equipo de 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97880"/>
            <a:ext cx="11094415" cy="384048"/>
          </a:xfrm>
          <a:prstGeom prst="roundRect">
            <a:avLst>
              <a:gd name="adj" fmla="val 22428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20" y="5897880"/>
            <a:ext cx="10728655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Ya construido por el equipo: </a:t>
            </a:r>
            <a:r>
              <a:rPr sz="1000" b="0">
                <a:solidFill>
                  <a:srgbClr val="F5F5F7"/>
                </a:solidFill>
                <a:latin typeface="Inter SemiBold"/>
              </a:rPr>
              <a:t>plataforma completa con 12 agentes y 7 modalidades</a:t>
            </a:r>
            <a:r>
              <a:rPr sz="1000" b="0">
                <a:solidFill>
                  <a:srgbClr val="A1A1AA"/>
                </a:solidFill>
                <a:latin typeface="Inter"/>
              </a:rPr>
              <a:t>, 150+ tests automáticos e infraestructura AWS lista en Terraform.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03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El inversor particular recibe opiniones, no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Millones de europeos invierten por su cuenta, y sus herramientas les dicen qué pasó, nunca por qué.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40680" cy="1719072"/>
          </a:xfrm>
          <a:prstGeom prst="roundRect">
            <a:avLst>
              <a:gd name="adj" fmla="val 3872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7240" y="1847088"/>
            <a:ext cx="347472" cy="347472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La información está dispersa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4983480" cy="6949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"/>
              </a:rPr>
              <a:t>Cotizaciones, titulares, informes regulatorios, conference calls, webinars y gráficos: cada formato en un sitio distinto, y nadie los cruza por 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45920"/>
            <a:ext cx="5440680" cy="1719072"/>
          </a:xfrm>
          <a:prstGeom prst="roundRect">
            <a:avLst>
              <a:gd name="adj" fmla="val 3872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82512" y="1847088"/>
            <a:ext cx="347472" cy="347472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82512" y="18470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8600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Los chatbots responden, pero no vigilan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15184"/>
            <a:ext cx="4983480" cy="6949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"/>
              </a:rPr>
              <a:t>Hay que saber qué preguntar. Nadie te avisa cuando tu activo se mueve ni te explica el porqué con fuentes.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39"/>
            <a:ext cx="5440680" cy="1719072"/>
          </a:xfrm>
          <a:prstGeom prst="roundRect">
            <a:avLst>
              <a:gd name="adj" fmla="val 3872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77240" y="3721607"/>
            <a:ext cx="347472" cy="347472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72160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Los finfluencers enganchan, pero no se pueden verificar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89704"/>
            <a:ext cx="4983480" cy="6949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"/>
              </a:rPr>
              <a:t>Sin fuentes y con posibles conflictos de interés: la CNMV revisó ~100 creadores en 2026 y </a:t>
            </a:r>
            <a:r>
              <a:rPr sz="1100" b="0">
                <a:solidFill>
                  <a:srgbClr val="EC4899"/>
                </a:solidFill>
                <a:latin typeface="Inter SemiBold"/>
              </a:rPr>
              <a:t>1 de cada 10 incumplía la normativa</a:t>
            </a:r>
            <a:r>
              <a:rPr sz="1100" b="0">
                <a:solidFill>
                  <a:srgbClr val="A1A1AA"/>
                </a:solidFill>
                <a:latin typeface="Inter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520439"/>
            <a:ext cx="5440680" cy="1719072"/>
          </a:xfrm>
          <a:prstGeom prst="roundRect">
            <a:avLst>
              <a:gd name="adj" fmla="val 3872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382512" y="3721607"/>
            <a:ext cx="347472" cy="347472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82512" y="372160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16052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El análisis profesional cuesta miles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489704"/>
            <a:ext cx="4983480" cy="6949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"/>
              </a:rPr>
              <a:t>Los terminales y el research institucional cuestan miles de euros al año por usuario: fuera del alcance de un particular.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EC4899"/>
                </a:solidFill>
                <a:latin typeface="Inter SemiBold"/>
              </a:rPr>
              <a:t>El enemigo:</a:t>
            </a:r>
            <a:r>
              <a:rPr sz="1250" b="0">
                <a:solidFill>
                  <a:srgbClr val="F5F5F7"/>
                </a:solidFill>
                <a:latin typeface="Inter"/>
              </a:rPr>
              <a:t> la opinión sin pruebas, es decir, decisiones con dinero real basadas en un titular o en un vídeo de 30 segundos.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04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Un analista que no duerme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Para cada activo que te importa: acciones, ETFs, cripto (ETH, SOL), petróleo, S&amp;P 500…   </a:t>
            </a:r>
            <a:r>
              <a:rPr sz="1300" b="0">
                <a:solidFill>
                  <a:srgbClr val="22C55E"/>
                </a:solidFill>
                <a:latin typeface="Inter SemiBold"/>
              </a:rPr>
              <a:t>En verde</a:t>
            </a:r>
            <a:r>
              <a:rPr sz="1300" b="0">
                <a:solidFill>
                  <a:srgbClr val="A1A1AA"/>
                </a:solidFill>
                <a:latin typeface="Inter"/>
              </a:rPr>
              <a:t>, lo que ya está construido.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578608" cy="2423160"/>
          </a:xfrm>
          <a:prstGeom prst="roundRect">
            <a:avLst>
              <a:gd name="adj" fmla="val 303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5F5F7"/>
                </a:solidFill>
                <a:latin typeface="Space Grotesk"/>
              </a:rPr>
              <a:t>Vigilar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15768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Hoy:</a:t>
            </a:r>
            <a:r>
              <a:rPr sz="1000" b="0">
                <a:solidFill>
                  <a:srgbClr val="A1A1AA"/>
                </a:solidFill>
                <a:latin typeface="Inter"/>
              </a:rPr>
              <a:t> briefing diario programado sobre tu watchlist. </a:t>
            </a:r>
            <a:r>
              <a:rPr sz="1000" b="0">
                <a:solidFill>
                  <a:srgbClr val="A78BFA"/>
                </a:solidFill>
                <a:latin typeface="Inter SemiBold"/>
              </a:rPr>
              <a:t>Visión:</a:t>
            </a:r>
            <a:r>
              <a:rPr sz="1000" b="0">
                <a:solidFill>
                  <a:srgbClr val="A1A1AA"/>
                </a:solidFill>
                <a:latin typeface="Inter"/>
              </a:rPr>
              <a:t> vigilancia 24/7 que investiga sola cuando un activo hace un movimiento anómalo.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630168"/>
            <a:ext cx="1417320" cy="256032"/>
          </a:xfrm>
          <a:prstGeom prst="roundRect">
            <a:avLst>
              <a:gd name="adj" fmla="val 46000"/>
            </a:avLst>
          </a:prstGeom>
          <a:solidFill>
            <a:srgbClr val="1E1733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363016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A78BFA"/>
                </a:solidFill>
                <a:latin typeface="Inter SemiBold"/>
              </a:rPr>
              <a:t>Hoy + visión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45536" y="2857500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7560" y="1645920"/>
            <a:ext cx="2578608" cy="2423160"/>
          </a:xfrm>
          <a:prstGeom prst="roundRect">
            <a:avLst>
              <a:gd name="adj" fmla="val 303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538728" y="1847088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38728" y="1847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359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5F5F7"/>
                </a:solidFill>
                <a:latin typeface="Space Grotesk"/>
              </a:rPr>
              <a:t>Investigar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715768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12 agentes especializados en paralelo: mercado, noticias, informes, macro, calls, webinars, PDFs y gráficos.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38728" y="3630168"/>
            <a:ext cx="1417320" cy="256032"/>
          </a:xfrm>
          <a:prstGeom prst="roundRect">
            <a:avLst>
              <a:gd name="adj" fmla="val 46000"/>
            </a:avLst>
          </a:prstGeom>
          <a:solidFill>
            <a:srgbClr val="0E2A1A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1880" y="363016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22C55E"/>
                </a:solidFill>
                <a:latin typeface="Inter SemiBold"/>
              </a:rPr>
              <a:t>Hoy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34455" y="2857500"/>
            <a:ext cx="173737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26479" y="1645920"/>
            <a:ext cx="2578608" cy="2423160"/>
          </a:xfrm>
          <a:prstGeom prst="roundRect">
            <a:avLst>
              <a:gd name="adj" fmla="val 303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327647" y="1847088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27647" y="1847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7" y="2359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5F5F7"/>
                </a:solidFill>
                <a:latin typeface="Space Grotesk"/>
              </a:rPr>
              <a:t>Explicar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7" y="2715768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Causas puntuadas por evidencia y cada afirmación con su fuente. En texto, audio narrado o email.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7" y="3630168"/>
            <a:ext cx="1417320" cy="256032"/>
          </a:xfrm>
          <a:prstGeom prst="roundRect">
            <a:avLst>
              <a:gd name="adj" fmla="val 46000"/>
            </a:avLst>
          </a:prstGeom>
          <a:solidFill>
            <a:srgbClr val="0E2A1A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799" y="363016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22C55E"/>
                </a:solidFill>
                <a:latin typeface="Inter SemiBold"/>
              </a:rPr>
              <a:t>Hoy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23376" y="2857500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15399" y="1645920"/>
            <a:ext cx="2578608" cy="2423160"/>
          </a:xfrm>
          <a:prstGeom prst="roundRect">
            <a:avLst>
              <a:gd name="adj" fmla="val 303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116567" y="1847088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16567" y="1847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2359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F5F5F7"/>
                </a:solidFill>
                <a:latin typeface="Space Grotesk"/>
              </a:rPr>
              <a:t>Recordar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2715768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Cada investigación queda guardada e indexada: búsqueda semántica (texto o imagen) y preguntas de seguimiento con todo el contexto.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16567" y="3630168"/>
            <a:ext cx="1417320" cy="256032"/>
          </a:xfrm>
          <a:prstGeom prst="roundRect">
            <a:avLst>
              <a:gd name="adj" fmla="val 46000"/>
            </a:avLst>
          </a:prstGeom>
          <a:solidFill>
            <a:srgbClr val="0E2A1A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89719" y="3630168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22C55E"/>
                </a:solidFill>
                <a:latin typeface="Inter SemiBold"/>
              </a:rPr>
              <a:t>Hoy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204703" y="4069080"/>
            <a:ext cx="0" cy="256032"/>
          </a:xfrm>
          <a:prstGeom prst="line">
            <a:avLst/>
          </a:prstGeom>
          <a:ln w="1587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837943" y="4325112"/>
            <a:ext cx="8366760" cy="0"/>
          </a:xfrm>
          <a:prstGeom prst="line">
            <a:avLst/>
          </a:prstGeom>
          <a:ln w="1587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37943" y="4087368"/>
            <a:ext cx="0" cy="237744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06240" y="4306824"/>
            <a:ext cx="4572000" cy="274320"/>
          </a:xfrm>
          <a:prstGeom prst="rect">
            <a:avLst/>
          </a:prstGeom>
          <a:solidFill>
            <a:srgbClr val="08090D"/>
          </a:solidFill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78BFA"/>
                </a:solidFill>
                <a:latin typeface="Inter SemiBold"/>
              </a:rPr>
              <a:t>el archivo de causas crece con cada investigación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3576218" cy="1051560"/>
          </a:xfrm>
          <a:prstGeom prst="roundRect">
            <a:avLst>
              <a:gd name="adj" fmla="val 5695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9808" y="4901184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EC4899"/>
                </a:solidFill>
                <a:latin typeface="Space Grotesk"/>
              </a:rPr>
              <a:t>~60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318760"/>
            <a:ext cx="3210458" cy="4114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de la pregunta a una respuesta con fuentes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07738" y="4754880"/>
            <a:ext cx="3576218" cy="1051560"/>
          </a:xfrm>
          <a:prstGeom prst="roundRect">
            <a:avLst>
              <a:gd name="adj" fmla="val 5695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508906" y="4901184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EC4899"/>
                </a:solidFill>
                <a:latin typeface="Space Grotesk"/>
              </a:rPr>
              <a:t>0,003–0,03 $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8906" y="5318760"/>
            <a:ext cx="3210458" cy="4114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coste de IA facturado por investigación, de texto a vídeo (sin datos ni infraestructura)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6836" y="4754880"/>
            <a:ext cx="3576218" cy="1051560"/>
          </a:xfrm>
          <a:prstGeom prst="roundRect">
            <a:avLst>
              <a:gd name="adj" fmla="val 5695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268004" y="4901184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EC4899"/>
                </a:solidFill>
                <a:latin typeface="Space Grotesk"/>
              </a:rPr>
              <a:t>0 cifras inventadas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8004" y="5318760"/>
            <a:ext cx="3210458" cy="4114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las métricas se calculan en código; los modelos solo interpretan y las citas se verifican literalmente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05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Análisis con pruebas. Cada activo. Cada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Lo que recibe el usuario: el porqué de cada movimiento, con fuentes, en el formato que prefiera.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CON PRUEBAS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Cada causa lleva su peso y sus fuentes enlazadas. Grafo de evidencias, riesgos y qué vigilar después.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Entiende cotizaciones, noticias, informes, PDFs, gráficos, conference calls y webinars en vídeo. Responde en texto, audio y email.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2219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Briefing diario sobre tus activos y búsqueda semántica en todo lo investigado. Próximo paso: alertas automáticas cuando algo se mueve.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90288"/>
            <a:ext cx="3931920" cy="1143000"/>
          </a:xfrm>
          <a:prstGeom prst="roundRect">
            <a:avLst>
              <a:gd name="adj" fmla="val 5320"/>
            </a:avLst>
          </a:prstGeom>
          <a:solidFill>
            <a:srgbClr val="1E1733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470001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00" b="1">
                <a:solidFill>
                  <a:srgbClr val="EC4899"/>
                </a:solidFill>
                <a:latin typeface="Space Grotesk"/>
              </a:rPr>
              <a:t>Gratis · Pro desde €9,99/mes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3892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frente a ~30.000 $/año de un terminal profesional. Y gratis para el usuario cuando llega vía su broker.</a:t>
            </a:r>
          </a:p>
        </p:txBody>
      </p:sp>
      <p:pic>
        <p:nvPicPr>
          <p:cNvPr id="16" name="Picture 15" descr="shot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00200"/>
            <a:ext cx="4892040" cy="3669030"/>
          </a:xfrm>
          <a:prstGeom prst="rect">
            <a:avLst/>
          </a:prstGeom>
          <a:ln w="9525">
            <a:solidFill>
              <a:srgbClr val="343848"/>
            </a:solidFill>
          </a:ln>
        </p:spPr>
      </p:pic>
      <p:pic>
        <p:nvPicPr>
          <p:cNvPr id="17" name="Picture 16" descr="shot_gra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10128"/>
            <a:ext cx="3566160" cy="2674620"/>
          </a:xfrm>
          <a:prstGeom prst="rect">
            <a:avLst/>
          </a:prstGeom>
          <a:ln w="9525">
            <a:solidFill>
              <a:srgbClr val="343848"/>
            </a:solidFill>
          </a:ln>
        </p:spPr>
      </p:pic>
      <p:pic>
        <p:nvPicPr>
          <p:cNvPr id="18" name="Picture 17" descr="shot_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415" y="1600200"/>
            <a:ext cx="1693926" cy="3474720"/>
          </a:xfrm>
          <a:prstGeom prst="rect">
            <a:avLst/>
          </a:prstGeom>
          <a:ln w="9525">
            <a:solidFill>
              <a:srgbClr val="343848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4754880" y="60533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71717A"/>
                </a:solidFill>
                <a:latin typeface="Inter"/>
              </a:rPr>
              <a:t>Capturas reales de la app: investigación sobre NVIDIA, grafo de evidencias y vista móvil (5 oct 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06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Construido, probado y medido: no es un mockup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Funciona de extremo a extremo en local; la nube está escrita (Terraform) pero sin desplegar. Aún no hay usuarios ni alertas automáticas.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36443" cy="1097280"/>
          </a:xfrm>
          <a:prstGeom prst="roundRect">
            <a:avLst>
              <a:gd name="adj" fmla="val 55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1746504"/>
            <a:ext cx="2270683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C4899"/>
                </a:solidFill>
                <a:latin typeface="Space Grotes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9583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agentes de IA especializados, orquestados con LangGraph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1600200"/>
            <a:ext cx="2636443" cy="1097280"/>
          </a:xfrm>
          <a:prstGeom prst="roundRect">
            <a:avLst>
              <a:gd name="adj" fmla="val 55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69131" y="1746504"/>
            <a:ext cx="2270683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C4899"/>
                </a:solidFill>
                <a:latin typeface="Space Grotes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9131" y="219583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modalidades: texto, mercado, noticias, PDF, imagen, audio y vídeo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600200"/>
            <a:ext cx="2636443" cy="1097280"/>
          </a:xfrm>
          <a:prstGeom prst="roundRect">
            <a:avLst>
              <a:gd name="adj" fmla="val 55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88455" y="1746504"/>
            <a:ext cx="2270683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C4899"/>
                </a:solidFill>
                <a:latin typeface="Space Grotesk"/>
              </a:rPr>
              <a:t>150+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8455" y="219583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tests automáticos más E2E sobre la app real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611" y="1600200"/>
            <a:ext cx="2636443" cy="1097280"/>
          </a:xfrm>
          <a:prstGeom prst="roundRect">
            <a:avLst>
              <a:gd name="adj" fmla="val 55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07779" y="1746504"/>
            <a:ext cx="2270683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>
                <a:solidFill>
                  <a:srgbClr val="EC4899"/>
                </a:solidFill>
                <a:latin typeface="Space Grotesk"/>
              </a:rPr>
              <a:t>~1,2 $/mes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7779" y="219583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coste de IA de un usuario Pro intensivo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07792"/>
            <a:ext cx="6629400" cy="3246120"/>
          </a:xfrm>
          <a:prstGeom prst="roundRect">
            <a:avLst>
              <a:gd name="adj" fmla="val 2521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3044952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A78BFA"/>
                </a:solidFill>
                <a:latin typeface="Inter SemiBold"/>
              </a:rPr>
              <a:t>COSTE DE IA FACTURADO POR OPENROUTER · EJECUCIONES REALES, OCT 2026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3346704"/>
            <a:ext cx="6172200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43814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Investigación «¿por qué se movió?» (texto)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381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0,003 $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34381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~60 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3730752"/>
            <a:ext cx="6172200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3822191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+ briefing narrado en audio (~2 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0,007 $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3822191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~14 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4114800"/>
            <a:ext cx="6172200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42062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Conference call + PDF de resultados (multimodal)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06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0,020 $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4206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~50 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4498848"/>
            <a:ext cx="6172200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45902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Webinar en vídeo de 2 min (voz + diapositivas)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590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0,031 $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59" y="4590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~60 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4882896"/>
            <a:ext cx="6172200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49743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Briefing diario con audio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743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0,009 $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9" y="49743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~60 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7240" y="5266944"/>
            <a:ext cx="6172200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7240" y="53583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Indexado para la búsqueda semántica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35838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0,0004 $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59" y="5358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~1 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7240" y="5650992"/>
            <a:ext cx="6172200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7240" y="57424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Infografía generada (imagen, opcional)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7424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0,067 $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59" y="57424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~8 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19" y="2907792"/>
            <a:ext cx="4282135" cy="3246120"/>
          </a:xfrm>
          <a:prstGeom prst="roundRect">
            <a:avLst>
              <a:gd name="adj" fmla="val 2521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589519" y="3044952"/>
            <a:ext cx="382493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PRÓXIMOS 90 DÍAS (PLAN)</a:t>
            </a:r>
          </a:p>
        </p:txBody>
      </p:sp>
      <p:sp>
        <p:nvSpPr>
          <p:cNvPr id="51" name="Oval 50"/>
          <p:cNvSpPr/>
          <p:nvPr/>
        </p:nvSpPr>
        <p:spPr>
          <a:xfrm>
            <a:off x="7589519" y="3456432"/>
            <a:ext cx="292608" cy="29260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589519" y="34564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F5F5F7"/>
                </a:solidFill>
                <a:latin typeface="Inter SemiBold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9288" y="3447288"/>
            <a:ext cx="341345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Beta cerrada con 100 inversores (comunidad MIAX / BME)</a:t>
            </a:r>
          </a:p>
        </p:txBody>
      </p:sp>
      <p:sp>
        <p:nvSpPr>
          <p:cNvPr id="54" name="Oval 53"/>
          <p:cNvSpPr/>
          <p:nvPr/>
        </p:nvSpPr>
        <p:spPr>
          <a:xfrm>
            <a:off x="7589519" y="4096511"/>
            <a:ext cx="292608" cy="29260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589519" y="409651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F5F5F7"/>
                </a:solidFill>
                <a:latin typeface="Inter SemiBold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19288" y="4087368"/>
            <a:ext cx="341345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Carta de intención de un broker para un piloto B2B2C</a:t>
            </a:r>
          </a:p>
        </p:txBody>
      </p:sp>
      <p:sp>
        <p:nvSpPr>
          <p:cNvPr id="57" name="Oval 56"/>
          <p:cNvSpPr/>
          <p:nvPr/>
        </p:nvSpPr>
        <p:spPr>
          <a:xfrm>
            <a:off x="7589519" y="4736592"/>
            <a:ext cx="292608" cy="29260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589519" y="47365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F5F5F7"/>
                </a:solidFill>
                <a:latin typeface="Inter SemiBold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19288" y="4727448"/>
            <a:ext cx="341345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Datos de mercado europeos con licencia</a:t>
            </a:r>
          </a:p>
        </p:txBody>
      </p:sp>
      <p:sp>
        <p:nvSpPr>
          <p:cNvPr id="60" name="Oval 59"/>
          <p:cNvSpPr/>
          <p:nvPr/>
        </p:nvSpPr>
        <p:spPr>
          <a:xfrm>
            <a:off x="7589519" y="5376671"/>
            <a:ext cx="292608" cy="29260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589519" y="537667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F5F5F7"/>
                </a:solidFill>
                <a:latin typeface="Inter SemiBold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19288" y="5367527"/>
            <a:ext cx="341345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Despliegue en AWS: la infraestructura ya está escrita en Terraform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07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La visión: de analista a piloto automático, contigo al mando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Hoy explica cuando se lo pides y una vez al día. La autonomía crece por fases ligadas a la financiación.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2212848" cy="2011680"/>
          </a:xfrm>
          <a:prstGeom prst="roundRect">
            <a:avLst>
              <a:gd name="adj" fmla="val 3454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3639312"/>
            <a:ext cx="184708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spc="120">
                <a:solidFill>
                  <a:srgbClr val="A78BFA"/>
                </a:solidFill>
                <a:latin typeface="Inter SemiBold"/>
              </a:rPr>
              <a:t>FASE 1 · 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5F5F7"/>
                </a:solidFill>
                <a:latin typeface="Space Grotesk"/>
              </a:rPr>
              <a:t>Explicar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Investigación bajo demanda y briefing diario programado. Research, no asesoramiento.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234440" cy="256032"/>
          </a:xfrm>
          <a:prstGeom prst="roundRect">
            <a:avLst>
              <a:gd name="adj" fmla="val 46000"/>
            </a:avLst>
          </a:prstGeom>
          <a:solidFill>
            <a:srgbClr val="0E2A1A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2" y="5074920"/>
            <a:ext cx="108813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22C55E"/>
                </a:solidFill>
                <a:latin typeface="Inter SemiBold"/>
              </a:rPr>
              <a:t>Construido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971800"/>
            <a:ext cx="2212848" cy="2514600"/>
          </a:xfrm>
          <a:prstGeom prst="roundRect">
            <a:avLst>
              <a:gd name="adj" fmla="val 3231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81528" y="3136392"/>
            <a:ext cx="184708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spc="120">
                <a:solidFill>
                  <a:srgbClr val="A78BFA"/>
                </a:solidFill>
                <a:latin typeface="Inter SemiBold"/>
              </a:rPr>
              <a:t>FASE 2 · 0–18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338328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5F5F7"/>
                </a:solidFill>
                <a:latin typeface="Space Grotesk"/>
              </a:rPr>
              <a:t>Vigilar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3794760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Con esta ronda: si un activo de tu watchlist se mueve de forma anómala, investiga solo y te avisa.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5" y="2468879"/>
            <a:ext cx="2212848" cy="3017520"/>
          </a:xfrm>
          <a:prstGeom prst="roundRect">
            <a:avLst>
              <a:gd name="adj" fmla="val 3231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31536" y="2633472"/>
            <a:ext cx="184708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spc="120">
                <a:solidFill>
                  <a:srgbClr val="A78BFA"/>
                </a:solidFill>
                <a:latin typeface="Inter SemiBold"/>
              </a:rPr>
              <a:t>FASE 3 · AÑOS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880360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5F5F7"/>
                </a:solidFill>
                <a:latin typeface="Space Grotesk"/>
              </a:rPr>
              <a:t>Proponer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3291839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Con la seed: escenarios y alertas según reglas tuyas (stop, exposición, rebalanceo), vía un broker con licencia.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3" y="1965959"/>
            <a:ext cx="2212848" cy="3520440"/>
          </a:xfrm>
          <a:prstGeom prst="roundRect">
            <a:avLst>
              <a:gd name="adj" fmla="val 3231"/>
            </a:avLst>
          </a:prstGeom>
          <a:solidFill>
            <a:srgbClr val="1E1733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81543" y="2130551"/>
            <a:ext cx="184708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spc="120">
                <a:solidFill>
                  <a:srgbClr val="EC4899"/>
                </a:solidFill>
                <a:latin typeface="Inter SemiBold"/>
              </a:rPr>
              <a:t>FASE 4 · AÑO 3+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543" y="2377439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5F5F7"/>
                </a:solidFill>
                <a:latin typeface="Space Grotesk"/>
              </a:rPr>
              <a:t>Actuar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3" y="2788919"/>
            <a:ext cx="1892807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Ejecución con mandato: tú fijas activos, importes y límites; el broker ejecuta y cada acción se explica.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48672" y="1965960"/>
            <a:ext cx="1694383" cy="3520440"/>
          </a:xfrm>
          <a:prstGeom prst="roundRect">
            <a:avLst>
              <a:gd name="adj" fmla="val 3914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131551" y="2212848"/>
            <a:ext cx="1328623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RAÍLES YA LISTOS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1" y="2560320"/>
            <a:ext cx="1328623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Robinhood</a:t>
            </a:r>
            <a:r>
              <a:rPr sz="1000" b="0">
                <a:solidFill>
                  <a:srgbClr val="A1A1AA"/>
                </a:solidFill>
                <a:latin typeface="Inter"/>
              </a:rPr>
              <a:t> · trading con agentes vía MCP (may 2026)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Scalable Capital</a:t>
            </a:r>
            <a:r>
              <a:rPr sz="1000" b="0">
                <a:solidFill>
                  <a:srgbClr val="A1A1AA"/>
                </a:solidFill>
                <a:latin typeface="Inter"/>
              </a:rPr>
              <a:t> · conecta ChatGPT o Claude a cuentas reales (ago 2026)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000" b="0">
                <a:solidFill>
                  <a:srgbClr val="F5F5F7"/>
                </a:solidFill>
                <a:latin typeface="Inter SemiBold"/>
              </a:rPr>
              <a:t>eToro</a:t>
            </a:r>
            <a:r>
              <a:rPr sz="1000" b="0">
                <a:solidFill>
                  <a:srgbClr val="A1A1AA"/>
                </a:solidFill>
                <a:latin typeface="Inter"/>
              </a:rPr>
              <a:t> · API pública y MCP para agentes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87568"/>
            <a:ext cx="11094415" cy="502920"/>
          </a:xfrm>
          <a:prstGeom prst="roundRect">
            <a:avLst>
              <a:gd name="adj" fmla="val 17363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5687568"/>
            <a:ext cx="10692079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Perímetro regulatorio:</a:t>
            </a:r>
            <a:r>
              <a:rPr sz="1050" b="0">
                <a:solidFill>
                  <a:srgbClr val="A1A1AA"/>
                </a:solidFill>
                <a:latin typeface="Inter"/>
              </a:rPr>
              <a:t> nosotros aportamos el cerebro; la licencia MiFID II para asesorar o gestionar la pone el broker o banco partner.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08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Modelo de negocio y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F5F5F7"/>
                </a:solidFill>
                <a:latin typeface="Inter SemiBold"/>
              </a:rPr>
              <a:t>Freemium directo</a:t>
            </a:r>
            <a:r>
              <a:rPr sz="1300" b="0">
                <a:solidFill>
                  <a:srgbClr val="A1A1AA"/>
                </a:solidFill>
                <a:latin typeface="Inter"/>
              </a:rPr>
              <a:t> (marca y captación) + </a:t>
            </a:r>
            <a:r>
              <a:rPr sz="1300" b="0">
                <a:solidFill>
                  <a:srgbClr val="F5F5F7"/>
                </a:solidFill>
                <a:latin typeface="Inter SemiBold"/>
              </a:rPr>
              <a:t>B2B2C</a:t>
            </a:r>
            <a:r>
              <a:rPr sz="1300" b="0">
                <a:solidFill>
                  <a:srgbClr val="A1A1AA"/>
                </a:solidFill>
                <a:latin typeface="Inter"/>
              </a:rPr>
              <a:t>: licenciamos el analista en marca blanca a brokers y neobancos.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32120" cy="3246120"/>
          </a:xfrm>
          <a:prstGeom prst="roundRect">
            <a:avLst>
              <a:gd name="adj" fmla="val 2521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A78BFA"/>
                </a:solidFill>
                <a:latin typeface="Inter SemiBold"/>
              </a:rPr>
              <a:t>PRO (B2C) · POR SUSCRIPTOR / 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556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71717A"/>
                </a:solidFill>
                <a:latin typeface="Inter SemiBold"/>
              </a:rPr>
              <a:t>HOY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5564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71717A"/>
                </a:solidFill>
                <a:latin typeface="Inter SemiBold"/>
              </a:rPr>
              <a:t>A ESCALA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066543"/>
            <a:ext cx="5074919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167127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Precio medio (€9,99/mes o €99/año)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6712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€8,75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6712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€8,75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2496311"/>
            <a:ext cx="5074919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25968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Coste de IA (estimado con costes medidos)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59689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€1,10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596895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€0,60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2926079"/>
            <a:ext cx="5074919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0266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Datos de mercado y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026663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€1,50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0266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€0,40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3355848"/>
            <a:ext cx="5074919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456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F5F5F7"/>
                </a:solidFill>
                <a:latin typeface="Inter SemiBold"/>
              </a:rPr>
              <a:t>Margen de contribución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456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70 %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4564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88 %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3785615"/>
            <a:ext cx="5074919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3886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CAC (contenido orgánico)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€20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8862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€20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4215383"/>
            <a:ext cx="5074919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43159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Payback del 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3159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3,3 meses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3159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2,6 meses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1600200"/>
            <a:ext cx="5379415" cy="3246120"/>
          </a:xfrm>
          <a:prstGeom prst="roundRect">
            <a:avLst>
              <a:gd name="adj" fmla="val 2521"/>
            </a:avLst>
          </a:prstGeom>
          <a:solidFill>
            <a:srgbClr val="1E1733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92240" y="1755648"/>
            <a:ext cx="492221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PARTNER (B2B2C) · POR USUARIO ACTIVO / MES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92240" y="2066543"/>
            <a:ext cx="4922215" cy="0"/>
          </a:xfrm>
          <a:prstGeom prst="line">
            <a:avLst/>
          </a:prstGeom>
          <a:ln w="9525">
            <a:solidFill>
              <a:srgbClr val="3B2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92240" y="2167127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Licencia por usuario activo (MAU)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59" y="2167127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€1,00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92240" y="2496311"/>
            <a:ext cx="4922215" cy="0"/>
          </a:xfrm>
          <a:prstGeom prst="line">
            <a:avLst/>
          </a:prstGeom>
          <a:ln w="9525">
            <a:solidFill>
              <a:srgbClr val="3B2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92240" y="2596895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Cuota mínima de plataforma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59" y="2596895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€2.000/mes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92240" y="2926079"/>
            <a:ext cx="4922215" cy="0"/>
          </a:xfrm>
          <a:prstGeom prst="line">
            <a:avLst/>
          </a:prstGeom>
          <a:ln w="9525">
            <a:solidFill>
              <a:srgbClr val="3B2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92240" y="3026663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Coste de IA por MAU (briefing diario + preguntas)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59" y="3026663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€0,15–0,25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92240" y="3355848"/>
            <a:ext cx="4922215" cy="0"/>
          </a:xfrm>
          <a:prstGeom prst="line">
            <a:avLst/>
          </a:prstGeom>
          <a:ln w="9525">
            <a:solidFill>
              <a:srgbClr val="3B2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92240" y="345643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Margen bruto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59" y="3456432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75–85 %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92240" y="3785615"/>
            <a:ext cx="4922215" cy="0"/>
          </a:xfrm>
          <a:prstGeom prst="line">
            <a:avLst/>
          </a:prstGeom>
          <a:ln w="9525">
            <a:solidFill>
              <a:srgbClr val="3B2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92240" y="38862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CAC por usuario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59" y="3886200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~€0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92240" y="4215383"/>
            <a:ext cx="4922215" cy="0"/>
          </a:xfrm>
          <a:prstGeom prst="line">
            <a:avLst/>
          </a:prstGeom>
          <a:ln w="9525">
            <a:solidFill>
              <a:srgbClr val="3B2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92240" y="431596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Quién pone la licencia MiFID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5559" y="4315968"/>
            <a:ext cx="12188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el partner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029200"/>
            <a:ext cx="3576218" cy="868680"/>
          </a:xfrm>
          <a:prstGeom prst="roundRect">
            <a:avLst>
              <a:gd name="adj" fmla="val 6684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49808" y="512064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El partner gana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5394960"/>
            <a:ext cx="321045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engagement, operativa y retención con contenido que cumple la normativa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07738" y="5029200"/>
            <a:ext cx="3576218" cy="868680"/>
          </a:xfrm>
          <a:prstGeom prst="roundRect">
            <a:avLst>
              <a:gd name="adj" fmla="val 6684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08906" y="512064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El usuario gana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08906" y="5394960"/>
            <a:ext cx="321045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su analista personal dentro de la app que ya usa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66836" y="5029200"/>
            <a:ext cx="3576218" cy="868680"/>
          </a:xfrm>
          <a:prstGeom prst="roundRect">
            <a:avLst>
              <a:gd name="adj" fmla="val 6684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68004" y="512064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Nosotros ganamos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8004" y="5394960"/>
            <a:ext cx="321045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distribución sin CAC, y la licencia la pone el partner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0167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71717A"/>
                </a:solidFill>
                <a:latin typeface="Inter"/>
              </a:rPr>
              <a:t>Costes de IA medidos en ejecuciones reales (oct 2026). Precios, CAC y coste de datos licenciados son supuestos del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09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Mercado: empezar en España, escalar a Europa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Visión:</a:t>
            </a:r>
            <a:r>
              <a:rPr sz="1100" b="0">
                <a:solidFill>
                  <a:srgbClr val="A1A1AA"/>
                </a:solidFill>
                <a:latin typeface="Inter"/>
              </a:rPr>
              <a:t> el analista de IA de cada inversor particular, con la calidad que antes solo tenían los profesionales.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Entrada:</a:t>
            </a:r>
            <a:r>
              <a:rPr sz="1100" b="0">
                <a:solidFill>
                  <a:srgbClr val="A1A1AA"/>
                </a:solidFill>
                <a:latin typeface="Inter"/>
              </a:rPr>
              <a:t> inversores autogestionados digitales en España (Trade Republic, MyInvestor, eToro…); después Europa a través de brokers.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EC4899"/>
                </a:solidFill>
                <a:latin typeface="Inter SemiBold"/>
              </a:rPr>
              <a:t>Bottom-up: cuentas autogestionadas × ARPU Pro de €105/año · España: &lt;18 % de ~40 M de adultos invierte (~7 M), ~3 M digitales (estimación)</a:t>
            </a:r>
          </a:p>
        </p:txBody>
      </p:sp>
      <p:sp>
        <p:nvSpPr>
          <p:cNvPr id="8" name="Oval 7"/>
          <p:cNvSpPr/>
          <p:nvPr/>
        </p:nvSpPr>
        <p:spPr>
          <a:xfrm>
            <a:off x="9921240" y="457200"/>
            <a:ext cx="1737360" cy="1737360"/>
          </a:xfrm>
          <a:prstGeom prst="ellipse">
            <a:avLst/>
          </a:prstGeom>
          <a:noFill/>
          <a:ln w="2857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131552" y="667512"/>
            <a:ext cx="1316736" cy="1316736"/>
          </a:xfrm>
          <a:prstGeom prst="ellipse">
            <a:avLst/>
          </a:prstGeom>
          <a:noFill/>
          <a:ln w="285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332720" y="868680"/>
            <a:ext cx="914400" cy="914400"/>
          </a:xfrm>
          <a:prstGeom prst="ellipse">
            <a:avLst/>
          </a:prstGeom>
          <a:noFill/>
          <a:ln w="2857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479024" y="1014983"/>
            <a:ext cx="621792" cy="621792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479024" y="1014983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F5F5F7"/>
                </a:solidFill>
                <a:latin typeface="Inter SemiBold"/>
              </a:rPr>
              <a:t>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5440680" cy="896112"/>
          </a:xfrm>
          <a:prstGeom prst="roundRect">
            <a:avLst>
              <a:gd name="adj" fmla="val 651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31520" y="2606040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2606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05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1 · Ahora · España: ~3 M de inversores digitales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Freemium directo y primeros brokers españoles · watchlists de acciones, ETFs, cripto y materias primas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377440"/>
            <a:ext cx="5440680" cy="896112"/>
          </a:xfrm>
          <a:prstGeom prst="roundRect">
            <a:avLst>
              <a:gd name="adj" fmla="val 651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36792" y="2606040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36792" y="2606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1" y="25054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2 · Año 1–3 · Europa: 39 M de cuentas autogestionadas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Más de 21 mercados (DE, FR, IT, NL…) a través de partnerships con neobrokers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01568"/>
            <a:ext cx="5440680" cy="896112"/>
          </a:xfrm>
          <a:prstGeom prst="roundRect">
            <a:avLst>
              <a:gd name="adj" fmla="val 651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5295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3 · Año 3–5 · Piloto automático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13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Vigilancia y ejecución con mandato a través de partners con licencia: IA en wealth management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3401568"/>
            <a:ext cx="5440680" cy="896112"/>
          </a:xfrm>
          <a:prstGeom prst="roundRect">
            <a:avLst>
              <a:gd name="adj" fmla="val 651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36792" y="3630168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36301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1" y="35295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4 · Año 5+ · Todo inversor y asesor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1" y="3813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Herramientas para asesores y gestoras · mercado global de inversión autogestionada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3600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71717A"/>
                </a:solidFill>
                <a:latin typeface="Inter"/>
              </a:rPr>
              <a:t>Cabeza de playa · España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92040"/>
            <a:ext cx="2590723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EC4899"/>
                </a:solidFill>
                <a:latin typeface="Space Grotesk"/>
              </a:rPr>
              <a:t>€0,3B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2243" y="463600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71717A"/>
                </a:solidFill>
                <a:latin typeface="Inter"/>
              </a:rPr>
              <a:t>Autogestionados · Europa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2243" y="4892040"/>
            <a:ext cx="2590723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EC4899"/>
                </a:solidFill>
                <a:latin typeface="Space Grotesk"/>
              </a:rPr>
              <a:t>€4,1B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30803" y="4754880"/>
            <a:ext cx="0" cy="777240"/>
          </a:xfrm>
          <a:prstGeom prst="line">
            <a:avLst/>
          </a:prstGeom>
          <a:ln w="9525">
            <a:solidFill>
              <a:srgbClr val="34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95847" y="463600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71717A"/>
                </a:solidFill>
                <a:latin typeface="Inter"/>
              </a:rPr>
              <a:t>IA en wealth management · 2030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847" y="4892040"/>
            <a:ext cx="2590723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EC4899"/>
                </a:solidFill>
                <a:latin typeface="Space Grotesk"/>
              </a:rPr>
              <a:t>$14B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04407" y="4754880"/>
            <a:ext cx="0" cy="777240"/>
          </a:xfrm>
          <a:prstGeom prst="line">
            <a:avLst/>
          </a:prstGeom>
          <a:ln w="9525">
            <a:solidFill>
              <a:srgbClr val="34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869451" y="4636008"/>
            <a:ext cx="259072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71717A"/>
                </a:solidFill>
                <a:latin typeface="Inter"/>
              </a:rPr>
              <a:t>Inversión autogestionada ·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451" y="4892040"/>
            <a:ext cx="2590723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EC4899"/>
                </a:solidFill>
                <a:latin typeface="Space Grotesk"/>
              </a:rPr>
              <a:t>$109B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778011" y="4754880"/>
            <a:ext cx="0" cy="777240"/>
          </a:xfrm>
          <a:prstGeom prst="line">
            <a:avLst/>
          </a:prstGeom>
          <a:ln w="9525">
            <a:solidFill>
              <a:srgbClr val="34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>
                <a:solidFill>
                  <a:srgbClr val="71717A"/>
                </a:solidFill>
                <a:latin typeface="Inter"/>
              </a:rPr>
              <a:t>Fuentes: estudios de mercado de inversión autogestionada (2026) · The Business Research Company (IA en wealth management) · AMF · prensa sectorial. España y ARPU: estimaciones propias.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10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Panorama competitivo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Todos obligan a elegir. Nuestra ventaja: proactivo, con pruebas, multimodal y al precio de un particular.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73980" y="1572768"/>
            <a:ext cx="1469075" cy="3831335"/>
          </a:xfrm>
          <a:prstGeom prst="roundRect">
            <a:avLst>
              <a:gd name="adj" fmla="val 4361"/>
            </a:avLst>
          </a:prstGeom>
          <a:solidFill>
            <a:srgbClr val="1E1733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297679" y="1627632"/>
            <a:ext cx="1469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Asistentes de brokers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(Cortex, Tori…)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6755" y="1627632"/>
            <a:ext cx="1469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ChatGPT 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Perplexity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5830" y="1627632"/>
            <a:ext cx="1469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Terminales pro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(AlphaSense, Bloomberg)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4905" y="1627632"/>
            <a:ext cx="1469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Finfluencers 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newsletters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73980" y="1627632"/>
            <a:ext cx="1469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C4899"/>
                </a:solidFill>
                <a:latin typeface="Inter SemiBold"/>
              </a:rPr>
              <a:t>● SignalRoom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5564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spc="100">
                <a:solidFill>
                  <a:srgbClr val="71717A"/>
                </a:solidFill>
                <a:latin typeface="Inter SemiBold"/>
              </a:rPr>
              <a:t>CAPACIDAD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148840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224028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Vigila tus activos y te avisa (proactivo)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20370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Inter SemiBold"/>
              </a:rPr>
              <a:t>~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6755" y="220370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5830" y="220370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4905" y="220370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Inter SemiBold"/>
              </a:rPr>
              <a:t>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3980" y="220370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551176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2642616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Explica por qué se movió, con evidencia puntuada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60604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Inter SemiBold"/>
              </a:rPr>
              <a:t>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6755" y="260604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Inter SemiBold"/>
              </a:rPr>
              <a:t>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5830" y="260604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4905" y="260604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3980" y="260604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2953512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304495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Cada afirmación enlazada a su fuente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300837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Inter SemiBold"/>
              </a:rPr>
              <a:t>~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6755" y="300837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5830" y="300837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4905" y="300837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3980" y="300837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355848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3447288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Multimodal: calls, webinars, PDFs y gráficos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79" y="3410712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6755" y="3410712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Inter SemiBold"/>
              </a:rPr>
              <a:t>~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5830" y="3410712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4905" y="3410712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3980" y="3410712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3758184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4360" y="3849624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Briefing en audio, vídeo y email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79" y="3813048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6755" y="3813048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5830" y="3813048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4905" y="3813048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73980" y="3813048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4160520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251960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Independiente del broker y con activos europeos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79" y="421538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6755" y="421538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5830" y="421538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4905" y="421538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73980" y="4215384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4562856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94360" y="4654296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Precio de particular (&lt; €10/mes)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7679" y="461772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6755" y="461772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5830" y="461772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04905" y="461772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73980" y="4617720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" y="4965192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94360" y="5056632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Sin conflictos de interés, cumplimiento por diseño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97679" y="502005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9E0B"/>
                </a:solidFill>
                <a:latin typeface="Inter SemiBold"/>
              </a:rPr>
              <a:t>~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6755" y="502005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5830" y="502005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22C55E"/>
                </a:solidFill>
                <a:latin typeface="Inter SemiBold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04905" y="502005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71717A"/>
                </a:solidFill>
                <a:latin typeface="Inter SemiBold"/>
              </a:rPr>
              <a:t>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73980" y="5020056"/>
            <a:ext cx="146907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EC4899"/>
                </a:solidFill>
                <a:latin typeface="Inter SemiBold"/>
              </a:rPr>
              <a:t>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5440680"/>
            <a:ext cx="11094415" cy="502920"/>
          </a:xfrm>
          <a:prstGeom prst="roundRect">
            <a:avLst>
              <a:gd name="adj" fmla="val 17363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49808" y="5440680"/>
            <a:ext cx="10692079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Lo que se acumula:</a:t>
            </a:r>
            <a:r>
              <a:rPr sz="1050" b="0">
                <a:solidFill>
                  <a:srgbClr val="A1A1AA"/>
                </a:solidFill>
                <a:latin typeface="Inter"/>
              </a:rPr>
              <a:t> archivo propio de causas, confianza verificable, contratos con brokers y contexto de cada usuario. </a:t>
            </a:r>
            <a:r>
              <a:rPr sz="1050" b="0">
                <a:solidFill>
                  <a:srgbClr val="EC4899"/>
                </a:solidFill>
                <a:latin typeface="Inter SemiBold"/>
              </a:rPr>
              <a:t>Lo que no es foso:</a:t>
            </a:r>
            <a:r>
              <a:rPr sz="1050" b="0">
                <a:solidFill>
                  <a:srgbClr val="A1A1AA"/>
                </a:solidFill>
                <a:latin typeface="Inter"/>
              </a:rPr>
              <a:t> los modelos de IA, que cambiamos según precio y calidad.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0350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71717A"/>
                </a:solidFill>
                <a:latin typeface="Inter"/>
              </a:rPr>
              <a:t>✓ sí   ~ parcial   ✗ 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11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Cabeza de playa:</a:t>
            </a:r>
            <a:r>
              <a:rPr sz="1100" b="0">
                <a:solidFill>
                  <a:srgbClr val="A1A1AA"/>
                </a:solidFill>
                <a:latin typeface="Inter SemiBold"/>
              </a:rPr>
              <a:t> inversores autogestionados en España (25–45 años; Trade Republic, MyInvestor, eToro) → brokers españoles → Europa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76218" cy="1828800"/>
          </a:xfrm>
          <a:prstGeom prst="roundRect">
            <a:avLst>
              <a:gd name="adj" fmla="val 37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F5F5F7"/>
                </a:solidFill>
                <a:latin typeface="Inter SemiBold"/>
              </a:rPr>
              <a:t>1 · Contenido que se genera solo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3210458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El briefing diario se publica como vídeo y audio corto en TikTok, YouTube y Spotify: el «finfluencer con pruebas»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Cada pieza enlaza al análisis completo con fuentes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Coste marginal ≈ 0: lo produce el propio producto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508760"/>
            <a:ext cx="3576218" cy="1828800"/>
          </a:xfrm>
          <a:prstGeom prst="roundRect">
            <a:avLst>
              <a:gd name="adj" fmla="val 37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08906" y="164592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F5F5F7"/>
                </a:solidFill>
                <a:latin typeface="Inter SemiBold"/>
              </a:rPr>
              <a:t>2 · Comunidad y credibilidad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906" y="2011680"/>
            <a:ext cx="3210458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Ecosistema MIAX / Instituto BME y clubs de inversión universitarios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Comunidades de inversión (Rankia, Finect, Discord, Telegram)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Metodología pública y transparente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508760"/>
            <a:ext cx="3576218" cy="1828800"/>
          </a:xfrm>
          <a:prstGeom prst="roundRect">
            <a:avLst>
              <a:gd name="adj" fmla="val 37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68004" y="1645920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F5F5F7"/>
                </a:solidFill>
                <a:latin typeface="Inter SemiBold"/>
              </a:rPr>
              <a:t>3 · Partnerships B2B2C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2011680"/>
            <a:ext cx="3210458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Pilotos con neobrokers y bancos españoles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Widget en marca blanca + API / MCP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A78BFA"/>
                </a:solidFill>
                <a:latin typeface="Inter"/>
              </a:rPr>
              <a:t>· Un caso de éxito abre el resto de Europa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EMBUDO NECESARIO · MENSUAL, AÑO 1 (PLAN)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2036003" cy="685800"/>
          </a:xfrm>
          <a:prstGeom prst="roundRect">
            <a:avLst>
              <a:gd name="adj" fmla="val 82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3858768"/>
            <a:ext cx="1761683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Alcance de contenido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87368"/>
            <a:ext cx="176168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C4899"/>
                </a:solidFill>
                <a:latin typeface="Space Grotesk"/>
              </a:rPr>
              <a:t>500K / mes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12075" y="4133087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13243" y="3794760"/>
            <a:ext cx="2036003" cy="685800"/>
          </a:xfrm>
          <a:prstGeom prst="roundRect">
            <a:avLst>
              <a:gd name="adj" fmla="val 82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77835" y="3858768"/>
            <a:ext cx="1761683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Registros gratis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7835" y="4087368"/>
            <a:ext cx="176168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C4899"/>
                </a:solidFill>
                <a:latin typeface="Space Grotesk"/>
              </a:rPr>
              <a:t>5.000 / mes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76678" y="4133087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77846" y="3794760"/>
            <a:ext cx="2036003" cy="685800"/>
          </a:xfrm>
          <a:prstGeom prst="roundRect">
            <a:avLst>
              <a:gd name="adj" fmla="val 82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242438" y="3858768"/>
            <a:ext cx="1761683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Activados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2438" y="4087368"/>
            <a:ext cx="176168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C4899"/>
                </a:solidFill>
                <a:latin typeface="Space Grotesk"/>
              </a:rPr>
              <a:t>2.500 / mes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1281" y="4133087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42449" y="3794760"/>
            <a:ext cx="2036003" cy="685800"/>
          </a:xfrm>
          <a:prstGeom prst="roundRect">
            <a:avLst>
              <a:gd name="adj" fmla="val 82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07041" y="3858768"/>
            <a:ext cx="1761683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Nuevos 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7041" y="4087368"/>
            <a:ext cx="176168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C4899"/>
                </a:solidFill>
                <a:latin typeface="Space Grotesk"/>
              </a:rPr>
              <a:t>250 / mes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05884" y="4133087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07052" y="3794760"/>
            <a:ext cx="2036003" cy="685800"/>
          </a:xfrm>
          <a:prstGeom prst="roundRect">
            <a:avLst>
              <a:gd name="adj" fmla="val 8200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71644" y="3858768"/>
            <a:ext cx="1761683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CAC · ciclo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1644" y="4087368"/>
            <a:ext cx="1761683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EC4899"/>
                </a:solidFill>
                <a:latin typeface="Space Grotesk"/>
              </a:rPr>
              <a:t>€20 · 2 sem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ENTRAR CON EL BRIEFING, CRECER DENTRO DE LA CUENTA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37760"/>
            <a:ext cx="2036003" cy="384048"/>
          </a:xfrm>
          <a:prstGeom prst="roundRect">
            <a:avLst>
              <a:gd name="adj" fmla="val 46000"/>
            </a:avLst>
          </a:prstGeom>
          <a:solidFill>
            <a:srgbClr val="1E1733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1792" y="4937760"/>
            <a:ext cx="188969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78BFA"/>
                </a:solidFill>
                <a:latin typeface="Inter SemiBold"/>
              </a:rPr>
              <a:t>Briefing diario (gratis)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612075" y="5129784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813243" y="4937760"/>
            <a:ext cx="2036003" cy="384048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886395" y="4937760"/>
            <a:ext cx="188969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Investigaciones «¿por qué?» (Pro)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876678" y="5129784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77846" y="4937760"/>
            <a:ext cx="2036003" cy="384048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150998" y="4937760"/>
            <a:ext cx="188969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Vigilancia de cartera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41281" y="5129784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342449" y="4937760"/>
            <a:ext cx="2036003" cy="384048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15601" y="4937760"/>
            <a:ext cx="188969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Documentos y vídeo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405884" y="5129784"/>
            <a:ext cx="173736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607052" y="4937760"/>
            <a:ext cx="2036003" cy="384048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680204" y="4937760"/>
            <a:ext cx="188969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Piloto automático (partner)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El mismo contexto del usuario en cada paso: cada nivel es un upsell sobre una relación que ya tenemos, con coste de adquisición casi cero.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12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Plan a 5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Caso base · un único plan, usado en todas las slides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1094415" cy="3364992"/>
          </a:xfrm>
          <a:prstGeom prst="roundRect">
            <a:avLst>
              <a:gd name="adj" fmla="val 246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206240" y="1572768"/>
            <a:ext cx="1487363" cy="3364992"/>
          </a:xfrm>
          <a:prstGeom prst="roundRect">
            <a:avLst>
              <a:gd name="adj" fmla="val 4319"/>
            </a:avLst>
          </a:prstGeom>
          <a:solidFill>
            <a:srgbClr val="1E1733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06240" y="169164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3603" y="169164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 SemiBold"/>
              </a:rPr>
              <a:t>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0966" y="169164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 SemiBold"/>
              </a:rPr>
              <a:t>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329" y="169164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 SemiBold"/>
              </a:rPr>
              <a:t>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5692" y="169164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A1A1AA"/>
                </a:solidFill>
                <a:latin typeface="Inter SemiBold"/>
              </a:rPr>
              <a:t>A5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2039112"/>
            <a:ext cx="1072865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21305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Suscriptores Pro (fin de año)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13055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2.500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3603" y="213055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9.000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0966" y="213055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22.000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329" y="213055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45.000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5692" y="213055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80.000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2441448"/>
            <a:ext cx="1072865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25328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Brokers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53288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3603" y="253288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0966" y="253288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329" y="253288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5692" y="253288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18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2843784"/>
            <a:ext cx="1072865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293522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Usuarios activos vía partners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935224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15K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3603" y="2935224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90K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0966" y="2935224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300K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329" y="2935224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700K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5692" y="2935224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1,4M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3246120"/>
            <a:ext cx="1072865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33375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F5F5F7"/>
                </a:solidFill>
                <a:latin typeface="Inter SemiBold"/>
              </a:rPr>
              <a:t>ARR (fin de año)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333756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EC4899"/>
                </a:solidFill>
                <a:latin typeface="Inter SemiBold"/>
              </a:rPr>
              <a:t>€0,4M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93603" y="333756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€2,0M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0966" y="333756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€5,9M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329" y="333756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€13,1M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55692" y="3337560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€25,2M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1520" y="3648456"/>
            <a:ext cx="1072865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373989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Margen bruto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39896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62 %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93603" y="3739896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72 %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80966" y="3739896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77 %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329" y="3739896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79 %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5692" y="3739896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80 %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1520" y="4050792"/>
            <a:ext cx="1072865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77240" y="41422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EBITDA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414223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−€0,6M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3603" y="414223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−€0,8M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80966" y="414223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€0,3M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8329" y="414223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€2,6M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55692" y="4142232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€6,5M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31520" y="4453128"/>
            <a:ext cx="1072865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7240" y="454456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Equipo (FTE)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454456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93603" y="454456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80966" y="454456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68329" y="454456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55692" y="4544568"/>
            <a:ext cx="14873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58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5102352"/>
            <a:ext cx="3576218" cy="822960"/>
          </a:xfrm>
          <a:prstGeom prst="roundRect">
            <a:avLst>
              <a:gd name="adj" fmla="val 6999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49808" y="5248656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EC4899"/>
                </a:solidFill>
                <a:latin typeface="Space Grotesk"/>
              </a:rPr>
              <a:t>Mes 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5634482"/>
            <a:ext cx="321045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break-even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07738" y="5102352"/>
            <a:ext cx="3576218" cy="822960"/>
          </a:xfrm>
          <a:prstGeom prst="roundRect">
            <a:avLst>
              <a:gd name="adj" fmla="val 6999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4508906" y="5248656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EC4899"/>
                </a:solidFill>
                <a:latin typeface="Space Grotesk"/>
              </a:rPr>
              <a:t>€60K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08906" y="5634482"/>
            <a:ext cx="321045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burn mensual máximo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66836" y="5102352"/>
            <a:ext cx="3576218" cy="822960"/>
          </a:xfrm>
          <a:prstGeom prst="roundRect">
            <a:avLst>
              <a:gd name="adj" fmla="val 6999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268004" y="5248656"/>
            <a:ext cx="3210458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EC4899"/>
                </a:solidFill>
                <a:latin typeface="Space Grotesk"/>
              </a:rPr>
              <a:t>18 meses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68004" y="5634482"/>
            <a:ext cx="3210458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A1A1AA"/>
                </a:solidFill>
                <a:latin typeface="Inter"/>
              </a:rPr>
              <a:t>de runway con esta ronda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>
                <a:solidFill>
                  <a:srgbClr val="71717A"/>
                </a:solidFill>
                <a:latin typeface="Inter"/>
              </a:rPr>
              <a:t>A1 = 2.500 Pro × €8,75 × 12 + 15K MAU × €1 × 12. A2–A5, break-even, burn y runway son proyecciones. Escenario conservador (mitad de crecimiento): ~€0,2M de ARR en A1; se retrasan contrataciones para mantener 18+ meses de runway.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13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Lo que levantamos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5074920" cy="1234440"/>
          </a:xfrm>
          <a:prstGeom prst="roundRect">
            <a:avLst>
              <a:gd name="adj" fmla="val 5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3749039" y="1481328"/>
            <a:ext cx="384048" cy="384048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49039" y="14813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463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F5F5F7"/>
                </a:solidFill>
                <a:latin typeface="Inter SemiBold"/>
              </a:rPr>
              <a:t>Financiación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1051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Pre-seed equity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Plan operativo de 18 meses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EC4899"/>
                </a:solidFill>
                <a:latin typeface="Space Grotesk"/>
              </a:rPr>
              <a:t>€750K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70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EC4899"/>
                </a:solidFill>
                <a:latin typeface="Inter SemiBold"/>
              </a:rPr>
              <a:t>+ préstamo participativo ENISA</a:t>
            </a:r>
            <a:r>
              <a:rPr sz="1050" b="0">
                <a:solidFill>
                  <a:srgbClr val="A1A1AA"/>
                </a:solidFill>
                <a:latin typeface="Inter"/>
              </a:rPr>
              <a:t> (a solicitar)  ·  valoración de referencia: €5M pre-money (mediana pre-seed/seed en Europa: €6M, T1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spc="120">
                <a:solidFill>
                  <a:srgbClr val="EC4899"/>
                </a:solidFill>
                <a:latin typeface="Inter SemiBold"/>
              </a:rPr>
              <a:t>ESTA RONDA NOS LLEVA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1734769" cy="329184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1792" y="3429000"/>
            <a:ext cx="158846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2.500 suscriptores Pro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0569" y="3429000"/>
            <a:ext cx="1734769" cy="329184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93721" y="3429000"/>
            <a:ext cx="158846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1.er broker en producción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2498" y="3429000"/>
            <a:ext cx="1734769" cy="329184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65650" y="3429000"/>
            <a:ext cx="158846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€0,4M de ARR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3429000"/>
            <a:ext cx="1734769" cy="329184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37579" y="3429000"/>
            <a:ext cx="158846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Datos UE con licencia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6356" y="3429000"/>
            <a:ext cx="1734769" cy="329184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09508" y="3429000"/>
            <a:ext cx="158846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MiFID / AI Act 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8286" y="3429000"/>
            <a:ext cx="1734769" cy="329184"/>
          </a:xfrm>
          <a:prstGeom prst="roundRect">
            <a:avLst>
              <a:gd name="adj" fmla="val 46000"/>
            </a:avLst>
          </a:prstGeom>
          <a:solidFill>
            <a:srgbClr val="171922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81438" y="3429000"/>
            <a:ext cx="158846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A1A1AA"/>
                </a:solidFill>
                <a:latin typeface="Inter SemiBold"/>
              </a:rPr>
              <a:t>Listos para la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76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F5F5F7"/>
                </a:solidFill>
                <a:latin typeface="Inter SemiBold"/>
              </a:rPr>
              <a:t>Uso de fondos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3576218" cy="1280160"/>
          </a:xfrm>
          <a:prstGeom prst="roundRect">
            <a:avLst>
              <a:gd name="adj" fmla="val 485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449884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C4899"/>
                </a:solidFill>
                <a:latin typeface="Space Grotesk"/>
              </a:rPr>
              <a:t>45 %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590288"/>
            <a:ext cx="188457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Ingeniería y producto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138928"/>
            <a:ext cx="3210458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Datos con licencia, app móvil, integraciones con brokers (API/MCP) · 2 AI/Data engineers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7738" y="4389120"/>
            <a:ext cx="3576218" cy="1280160"/>
          </a:xfrm>
          <a:prstGeom prst="roundRect">
            <a:avLst>
              <a:gd name="adj" fmla="val 485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08906" y="449884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C4899"/>
                </a:solidFill>
                <a:latin typeface="Space Grotesk"/>
              </a:rPr>
              <a:t>30 %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6498" y="4590288"/>
            <a:ext cx="188457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Crecimiento y partnerships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8906" y="5138928"/>
            <a:ext cx="3210458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Motor de contenido, pilotos B2B2C · Head of Partnerships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6836" y="4389120"/>
            <a:ext cx="3576218" cy="1280160"/>
          </a:xfrm>
          <a:prstGeom prst="roundRect">
            <a:avLst>
              <a:gd name="adj" fmla="val 4857"/>
            </a:avLst>
          </a:prstGeom>
          <a:solidFill>
            <a:srgbClr val="171922"/>
          </a:solidFill>
          <a:ln w="9525">
            <a:solidFill>
              <a:srgbClr val="2629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68004" y="449884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C4899"/>
                </a:solidFill>
                <a:latin typeface="Space Grotesk"/>
              </a:rPr>
              <a:t>25 %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5596" y="4590288"/>
            <a:ext cx="188457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F5F5F7"/>
                </a:solidFill>
                <a:latin typeface="Inter SemiBold"/>
              </a:rPr>
              <a:t>Cumplimiento, operaciones y runway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8004" y="5138928"/>
            <a:ext cx="3210458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A1A1AA"/>
                </a:solidFill>
                <a:latin typeface="Inter"/>
              </a:rPr>
              <a:t>Asesoría MiFID II / AI Act, compliance y cloud tras los créditos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1430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960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>
                <a:solidFill>
                  <a:srgbClr val="F5F5F7"/>
                </a:solidFill>
                <a:latin typeface="Space Grotesk"/>
              </a:rPr>
              <a:t>Signal</a:t>
            </a:r>
            <a:r>
              <a:rPr sz="6400" b="0">
                <a:solidFill>
                  <a:srgbClr val="A1A1AA"/>
                </a:solidFill>
                <a:latin typeface="Inter SemiBold"/>
              </a:rPr>
              <a:t>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7863840" cy="868680"/>
          </a:xfrm>
          <a:prstGeom prst="roundRect">
            <a:avLst>
              <a:gd name="adj" fmla="val 12368"/>
            </a:avLst>
          </a:prstGeom>
          <a:solidFill>
            <a:srgbClr val="101219"/>
          </a:solidFill>
          <a:ln w="9525">
            <a:solidFill>
              <a:srgbClr val="34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395728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F5F5F7"/>
                </a:solidFill>
                <a:latin typeface="Space Grotesk"/>
              </a:rPr>
              <a:t>Tu analista de mercados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EC4899"/>
                </a:solidFill>
                <a:latin typeface="Inter SemiBold"/>
              </a:rPr>
              <a:t>Levantando €750K pre-seed · producto funcionando con 12 agentes de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>
                <a:solidFill>
                  <a:srgbClr val="F5F5F7"/>
                </a:solidFill>
                <a:latin typeface="Space Grotesk"/>
              </a:rPr>
              <a:t>Gracias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389120"/>
            <a:ext cx="2743200" cy="0"/>
          </a:xfrm>
          <a:prstGeom prst="line">
            <a:avLst/>
          </a:prstGeom>
          <a:ln w="1905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57200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F5F5F7"/>
                </a:solidFill>
                <a:latin typeface="Inter SemiBold"/>
              </a:rPr>
              <a:t>Iván Nevado Martín</a:t>
            </a:r>
            <a:r>
              <a:rPr sz="1300" b="0">
                <a:solidFill>
                  <a:srgbClr val="A1A1AA"/>
                </a:solidFill>
                <a:latin typeface="Inter"/>
              </a:rPr>
              <a:t> · CEO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F5F5F7"/>
                </a:solidFill>
                <a:latin typeface="Inter SemiBold"/>
              </a:rPr>
              <a:t>Joseph Egusquiza</a:t>
            </a:r>
            <a:r>
              <a:rPr sz="1300" b="0">
                <a:solidFill>
                  <a:srgbClr val="A1A1AA"/>
                </a:solidFill>
                <a:latin typeface="Inter"/>
              </a:rPr>
              <a:t> · CTO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F5F5F7"/>
                </a:solidFill>
                <a:latin typeface="Inter SemiBold"/>
              </a:rPr>
              <a:t>Gonzalo De Ramón Murillo</a:t>
            </a:r>
            <a:r>
              <a:rPr sz="1300" b="0">
                <a:solidFill>
                  <a:srgbClr val="A1A1AA"/>
                </a:solidFill>
                <a:latin typeface="Inter"/>
              </a:rPr>
              <a:t> · CMO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71717A"/>
                </a:solidFill>
                <a:latin typeface="Inter"/>
              </a:rPr>
              <a:t>Demo en vivo disponible · Proyecto MIAX, Instituto BME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73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"/>
              </a:rPr>
              <a:t>15</a:t>
            </a:r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46520"/>
            <a:ext cx="182880" cy="182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8" y="64648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71717A"/>
                </a:solidFill>
                <a:latin typeface="Inter SemiBold"/>
              </a:rPr>
              <a:t>SignalRoom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A78BFA"/>
                </a:solidFill>
                <a:latin typeface="Space Grotesk"/>
              </a:rPr>
              <a:t>Anexo · Objeciones que escuchamos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A1A1AA"/>
                </a:solidFill>
                <a:latin typeface="Inter"/>
              </a:rPr>
              <a:t>Cómo respondemos a lo que preguntan inversores y partners antes de decir que sí.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spc="100">
                <a:solidFill>
                  <a:srgbClr val="71717A"/>
                </a:solidFill>
                <a:latin typeface="Inter SemiBold"/>
              </a:rPr>
              <a:t>OBJECIÓN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spc="100">
                <a:solidFill>
                  <a:srgbClr val="EC4899"/>
                </a:solidFill>
                <a:latin typeface="Inter SemiBold"/>
              </a:rPr>
              <a:t>NUESTRA RESPUESTA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1883664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«¿Esto es asesoramiento financiero?»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697961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No: es research. Sin recomendaciones personalizadas; cualquier acción ocurre a través de partners con licencia y bajo mandato del usuario.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487168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615184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«¿Por qué no ChatGPT o Perplexity?»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15184"/>
            <a:ext cx="697961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Responden cuando preguntas. SignalRoom vigila tus activos, investiga solo, puntúa la evidencia y entiende calls y webinars.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090672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21868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«¿Y las alucinaciones?»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18688"/>
            <a:ext cx="697961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Las cifras se calculan en código, los modelos solo interpretan, las citas se verifican literalmente y cada afirmación enlaza su fuente.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694176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822191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«Los brokers harán el suyo.»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822191"/>
            <a:ext cx="697961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La mayoría añade capas de preguntas y respuestas. Nosotros vendemos el motor de análisis en marca blanca: más rápido y barato que construirlo.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297680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42569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«¿Pagará la gente?»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25696"/>
            <a:ext cx="697961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Motley Fool tiene 500K suscriptores a 99 $/año; Seeking Alpha cobra 299 $/año. Y el B2B2C monetiza a quien no paga.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901184"/>
            <a:ext cx="11094415" cy="0"/>
          </a:xfrm>
          <a:prstGeom prst="line">
            <a:avLst/>
          </a:prstGeom>
          <a:ln w="9525">
            <a:solidFill>
              <a:srgbClr val="262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50292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F5F5F7"/>
                </a:solidFill>
                <a:latin typeface="Inter SemiBold"/>
              </a:rPr>
              <a:t>«¿Y los datos de mercado?»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029200"/>
            <a:ext cx="697961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A1A1AA"/>
                </a:solidFill>
                <a:latin typeface="Inter"/>
              </a:rPr>
              <a:t>El prototipo usa datos gratuitos; esta ronda presupuesta feeds europeos con licencia.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78BFA"/>
                </a:solidFill>
                <a:latin typeface="Inter SemiBold"/>
              </a:rPr>
              <a:t>La IA escala el análisis. Las pruebas garantizan la confianza.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